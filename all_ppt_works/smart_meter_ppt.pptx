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-366" y="-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63285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2618"/>
            <a:ext cx="80832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0"/>
              </a:lnSpc>
              <a:buNone/>
            </a:pPr>
            <a:r>
              <a:rPr lang="en-US" sz="90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⚡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09600" y="1947118"/>
            <a:ext cx="7924800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0"/>
              </a:lnSpc>
              <a:buNone/>
            </a:pPr>
            <a:r>
              <a:rPr lang="en-US" sz="5760" dirty="0">
                <a:solidFill>
                  <a:srgbClr val="F97316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Smart Meter System Logic</a:t>
            </a:r>
          </a:p>
          <a:p>
            <a:pPr marL="0" indent="0" algn="ctr">
              <a:lnSpc>
                <a:spcPts val="8640"/>
              </a:lnSpc>
              <a:buNone/>
            </a:pPr>
            <a:r>
              <a:rPr lang="en-US" sz="2600" dirty="0">
                <a:solidFill>
                  <a:srgbClr val="F97316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BY Cohort-6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4293840"/>
            <a:ext cx="792480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1620" dirty="0">
                <a:solidFill>
                  <a:srgbClr val="A1A1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validation, circuit logic, threshold logic and communication</a:t>
            </a:r>
            <a:endParaRPr lang="en-US" sz="16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9778"/>
            <a:ext cx="2450471" cy="573286"/>
          </a:xfrm>
          <a:prstGeom prst="roundRect">
            <a:avLst>
              <a:gd name="adj" fmla="val 29622845"/>
            </a:avLst>
          </a:prstGeom>
          <a:solidFill>
            <a:srgbClr val="F97316">
              <a:alpha val="14000"/>
            </a:srgbClr>
          </a:solidFill>
          <a:ln w="9525">
            <a:solidFill>
              <a:srgbClr val="F97316"/>
            </a:solidFill>
          </a:ln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 smtClean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Data </a:t>
            </a:r>
            <a:r>
              <a:rPr lang="en-US" sz="1600" dirty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validation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98364"/>
            <a:ext cx="3848100" cy="1870472"/>
          </a:xfrm>
          <a:prstGeom prst="roundRect">
            <a:avLst>
              <a:gd name="adj" fmla="val 1173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86300" y="1198364"/>
            <a:ext cx="3848100" cy="1870472"/>
          </a:xfrm>
          <a:prstGeom prst="roundRect">
            <a:avLst>
              <a:gd name="adj" fmla="val 1173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297436"/>
            <a:ext cx="3848100" cy="1870472"/>
          </a:xfrm>
          <a:prstGeom prst="roundRect">
            <a:avLst>
              <a:gd name="adj" fmla="val 1173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86300" y="3297436"/>
            <a:ext cx="3848100" cy="1870472"/>
          </a:xfrm>
          <a:prstGeom prst="roundRect">
            <a:avLst>
              <a:gd name="adj" fmla="val 11732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4652" y="741164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Why validation matters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4901" y="1390650"/>
            <a:ext cx="353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Input checks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1886" y="1809750"/>
            <a:ext cx="34635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Voltage is constrained to 220-240 V in the simulator so the demo stays inside a realistic domestic supply range for the project.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98375" y="1413087"/>
            <a:ext cx="353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Device states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8586" y="1809750"/>
            <a:ext cx="34635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Fan, bulb and TV states are validated as ON/OFF inputs before assigning current values, preventing invalid appliance combinations.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3287" y="3526036"/>
            <a:ext cx="353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EF3C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Range filtering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1886" y="3908822"/>
            <a:ext cx="34635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Current values can be fixed or randomized inside safe ranges, such as fan current varying from </a:t>
            </a:r>
            <a:r>
              <a:rPr lang="en-US" sz="1350" dirty="0" smtClean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0.09 </a:t>
            </a: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to </a:t>
            </a:r>
            <a:r>
              <a:rPr lang="en-US" sz="1350" dirty="0" smtClean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0.43 </a:t>
            </a: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for realistic simulation.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98374" y="3526036"/>
            <a:ext cx="353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Formatted serial data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8586" y="3908822"/>
            <a:ext cx="34635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LabVIEW sends clean comma-separated values in the form voltage,current so the ESP32 can parse the packet reliably every cycle.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58428"/>
            <a:ext cx="2019300" cy="457200"/>
          </a:xfrm>
          <a:prstGeom prst="roundRect">
            <a:avLst>
              <a:gd name="adj" fmla="val 29622845"/>
            </a:avLst>
          </a:prstGeom>
          <a:solidFill>
            <a:srgbClr val="F97316">
              <a:alpha val="14000"/>
            </a:srgbClr>
          </a:solidFill>
          <a:ln w="9525">
            <a:solidFill>
              <a:srgbClr val="F97316"/>
            </a:solidFill>
          </a:ln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Data validation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981200"/>
            <a:ext cx="1866900" cy="24038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628900" y="1981200"/>
            <a:ext cx="1866900" cy="24038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48200" y="1981200"/>
            <a:ext cx="1866900" cy="24038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67500" y="1981200"/>
            <a:ext cx="1866900" cy="24038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2192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Validation flow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3262" y="2325886"/>
            <a:ext cx="151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1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1886" y="2668786"/>
            <a:ext cx="151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Read controls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1886" y="3011686"/>
            <a:ext cx="1482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Read voltage knob and appliance switches from LabVIEW front panel.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17329" y="2325132"/>
            <a:ext cx="151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2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21186" y="2668786"/>
            <a:ext cx="151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Apply ranges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21186" y="3011686"/>
            <a:ext cx="1482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Limit voltage and assign current only when a load is enabled.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42086" y="2284214"/>
            <a:ext cx="151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3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0486" y="2668786"/>
            <a:ext cx="151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Build packet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0486" y="3011686"/>
            <a:ext cx="1482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Convert values to %f,%f format and push through VISA Write.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26282" y="2325132"/>
            <a:ext cx="151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4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9786" y="2668786"/>
            <a:ext cx="14823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Check in ESP32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9786" y="2961918"/>
            <a:ext cx="1482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Parse serial data, reject bad values, then compute total power.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1228"/>
            <a:ext cx="2115493" cy="460772"/>
          </a:xfrm>
          <a:prstGeom prst="roundRect">
            <a:avLst>
              <a:gd name="adj" fmla="val 29622845"/>
            </a:avLst>
          </a:prstGeom>
          <a:solidFill>
            <a:srgbClr val="F97316">
              <a:alpha val="14000"/>
            </a:srgbClr>
          </a:solidFill>
          <a:ln w="9525">
            <a:solidFill>
              <a:srgbClr val="F97316"/>
            </a:solidFill>
          </a:ln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 smtClean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Circuit </a:t>
            </a:r>
            <a:r>
              <a:rPr lang="en-US" sz="1600" dirty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logic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524000"/>
            <a:ext cx="3848100" cy="3318272"/>
          </a:xfrm>
          <a:prstGeom prst="roundRect">
            <a:avLst>
              <a:gd name="adj" fmla="val 661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86300" y="1524000"/>
            <a:ext cx="3848100" cy="3318272"/>
          </a:xfrm>
          <a:prstGeom prst="roundRect">
            <a:avLst>
              <a:gd name="adj" fmla="val 661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76200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Functional circuit path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45788" y="1867793"/>
            <a:ext cx="22779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LabVIEW side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94172" y="2365772"/>
            <a:ext cx="346352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Voltage control acts as the supply source.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Fan, bulb and TV switches represent simulated loads.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Select blocks assign current when each load is 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Compound Arithmetic adds all branch currents.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01733" y="1868686"/>
            <a:ext cx="353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ESP32 side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47857" y="2444419"/>
            <a:ext cx="346352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Serial port receives voltage and total current.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Controller calculates power using P = V x I.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Latest values are stored for dashboard upload.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Cloud update sends a meter-like reading packet.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1791"/>
            <a:ext cx="1700107" cy="673709"/>
          </a:xfrm>
          <a:prstGeom prst="roundRect">
            <a:avLst>
              <a:gd name="adj" fmla="val 29622845"/>
            </a:avLst>
          </a:prstGeom>
          <a:solidFill>
            <a:srgbClr val="F97316">
              <a:alpha val="14000"/>
            </a:srgbClr>
          </a:solidFill>
          <a:ln w="9525">
            <a:solidFill>
              <a:srgbClr val="F97316"/>
            </a:solidFill>
          </a:ln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Circuit logic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74564"/>
            <a:ext cx="2489150" cy="2670572"/>
          </a:xfrm>
          <a:prstGeom prst="roundRect">
            <a:avLst>
              <a:gd name="adj" fmla="val 881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327350" y="1274564"/>
            <a:ext cx="2489150" cy="2670572"/>
          </a:xfrm>
          <a:prstGeom prst="roundRect">
            <a:avLst>
              <a:gd name="adj" fmla="val 8816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75145" y="1274564"/>
            <a:ext cx="2489299" cy="2670572"/>
          </a:xfrm>
          <a:prstGeom prst="roundRect">
            <a:avLst>
              <a:gd name="adj" fmla="val 8816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4173736"/>
            <a:ext cx="7924800" cy="917972"/>
          </a:xfrm>
          <a:prstGeom prst="roundRect">
            <a:avLst>
              <a:gd name="adj" fmla="val 23906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804945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Load model example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09849" y="1485007"/>
            <a:ext cx="766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🌀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7859" y="2017842"/>
            <a:ext cx="21466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Fan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1886" y="2324477"/>
            <a:ext cx="210457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Variable current can be mapped between </a:t>
            </a:r>
            <a:r>
              <a:rPr lang="en-US" sz="1350" dirty="0" smtClean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0.09 </a:t>
            </a: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and </a:t>
            </a:r>
            <a:r>
              <a:rPr lang="en-US" sz="1350" dirty="0" smtClean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0.43 </a:t>
            </a: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to mimic speed and load fluctuation.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16983" y="1454431"/>
            <a:ext cx="21466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💡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90069" y="2018407"/>
            <a:ext cx="8508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Bulb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98958" y="2402086"/>
            <a:ext cx="21045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smaller current band can represent steady lighting behavior with slight random variation.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52160" y="1438440"/>
            <a:ext cx="21468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📺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60534" y="2018407"/>
            <a:ext cx="21468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TV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37387" y="2419350"/>
            <a:ext cx="210472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 wider band can simulate real consumption changes based on screen brightness and activity.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1886" y="4366022"/>
            <a:ext cx="75402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Total current = fan current + bulb current + TV current, and total power = voltage × total current.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" y="663178"/>
            <a:ext cx="1754293" cy="457200"/>
          </a:xfrm>
          <a:prstGeom prst="roundRect">
            <a:avLst>
              <a:gd name="adj" fmla="val 29622845"/>
            </a:avLst>
          </a:prstGeom>
          <a:solidFill>
            <a:srgbClr val="F97316">
              <a:alpha val="14000"/>
            </a:srgbClr>
          </a:solidFill>
          <a:ln w="9525">
            <a:solidFill>
              <a:srgbClr val="F97316"/>
            </a:solidFill>
          </a:ln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 smtClean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Threshold </a:t>
            </a:r>
            <a:r>
              <a:rPr lang="en-US" sz="1600" dirty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logic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14550"/>
            <a:ext cx="2489150" cy="2137172"/>
          </a:xfrm>
          <a:prstGeom prst="roundRect">
            <a:avLst>
              <a:gd name="adj" fmla="val 10268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327350" y="2114550"/>
            <a:ext cx="2489150" cy="2137172"/>
          </a:xfrm>
          <a:prstGeom prst="roundRect">
            <a:avLst>
              <a:gd name="adj" fmla="val 10268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45101" y="2114550"/>
            <a:ext cx="2489299" cy="2137172"/>
          </a:xfrm>
          <a:prstGeom prst="roundRect">
            <a:avLst>
              <a:gd name="adj" fmla="val 10268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35255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Decision rules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16785" y="2306836"/>
            <a:ext cx="1589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Normal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1886" y="2725936"/>
            <a:ext cx="21045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Power remains in the safe operating band, so the dashboard shows standard green status.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947310" y="2306836"/>
            <a:ext cx="17189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EF3C7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Warning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19636" y="2725936"/>
            <a:ext cx="21045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If total power crosses a preset soft threshold, the system can flag a high-consumption alert.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90099" y="2306836"/>
            <a:ext cx="15941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Critical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37387" y="2725936"/>
            <a:ext cx="210472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If the limit is exceeded again, the system can trigger a critical event, notification or cut-off logic.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" y="318492"/>
            <a:ext cx="2221653" cy="460772"/>
          </a:xfrm>
          <a:prstGeom prst="roundRect">
            <a:avLst>
              <a:gd name="adj" fmla="val 29622845"/>
            </a:avLst>
          </a:prstGeom>
          <a:solidFill>
            <a:srgbClr val="F97316">
              <a:alpha val="14000"/>
            </a:srgbClr>
          </a:solidFill>
          <a:ln w="9525">
            <a:solidFill>
              <a:srgbClr val="F97316"/>
            </a:solidFill>
          </a:ln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Threshold logic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541264"/>
            <a:ext cx="3848100" cy="2137172"/>
          </a:xfrm>
          <a:prstGeom prst="roundRect">
            <a:avLst>
              <a:gd name="adj" fmla="val 10268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86300" y="1541264"/>
            <a:ext cx="3848100" cy="2137172"/>
          </a:xfrm>
          <a:prstGeom prst="roundRect">
            <a:avLst>
              <a:gd name="adj" fmla="val 10268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907036"/>
            <a:ext cx="7924800" cy="917972"/>
          </a:xfrm>
          <a:prstGeom prst="roundRect">
            <a:avLst>
              <a:gd name="adj" fmla="val 23906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779264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Suggested thresholds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6408" y="1733550"/>
            <a:ext cx="353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Voltage rules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1886" y="2190750"/>
            <a:ext cx="346352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Below 220 V: low-voltage condition.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220-240 V: normal operating region.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Above 240 V: over-voltage condition.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61466" y="1739900"/>
            <a:ext cx="3532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Power rules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8586" y="2190750"/>
            <a:ext cx="3463528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Below threshold: normal load profile.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Near limit: send warning notification.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Above limit: mark anomaly or overload event.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1886" y="4099322"/>
            <a:ext cx="75402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These thresholds can later support Telegram alerts, dashboard color changes, or relay-based protection logic.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673" y="464212"/>
            <a:ext cx="1930400" cy="541866"/>
          </a:xfrm>
          <a:prstGeom prst="roundRect">
            <a:avLst>
              <a:gd name="adj" fmla="val 29622845"/>
            </a:avLst>
          </a:prstGeom>
          <a:solidFill>
            <a:srgbClr val="F97316">
              <a:alpha val="14000"/>
            </a:srgbClr>
          </a:solidFill>
          <a:ln w="9525">
            <a:solidFill>
              <a:srgbClr val="F97316"/>
            </a:solidFill>
          </a:ln>
        </p:spPr>
        <p:txBody>
          <a:bodyPr wrap="square" lIns="106680" tIns="106680" rIns="106680" bIns="10668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ED7A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Communication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228850"/>
            <a:ext cx="1866900" cy="19085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628900" y="2228850"/>
            <a:ext cx="1866900" cy="19085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48200" y="2228850"/>
            <a:ext cx="1866900" cy="19085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67500" y="2228850"/>
            <a:ext cx="1866900" cy="1908572"/>
          </a:xfrm>
          <a:prstGeom prst="roundRect">
            <a:avLst>
              <a:gd name="adj" fmla="val 1175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466850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End-to-end data flow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4525" y="2421136"/>
            <a:ext cx="151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🖥️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1886" y="2916436"/>
            <a:ext cx="151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LabVIEW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1886" y="3259336"/>
            <a:ext cx="1482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Generates validated voltage and load values.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51430" y="2421136"/>
            <a:ext cx="13817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🔌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21186" y="2916436"/>
            <a:ext cx="151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NI-VISA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21186" y="3259336"/>
            <a:ext cx="1482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Transfers serial packets over USB to the ESP32.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0486" y="2421136"/>
            <a:ext cx="151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📡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0486" y="2916436"/>
            <a:ext cx="151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ESP32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0486" y="3259336"/>
            <a:ext cx="1634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Parses, computes and prepares cloud-ready data.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9786" y="2421136"/>
            <a:ext cx="151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☁️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9786" y="2840236"/>
            <a:ext cx="151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Dashboard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9786" y="3145036"/>
            <a:ext cx="1482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Displays </a:t>
            </a:r>
            <a:r>
              <a:rPr lang="en-US" sz="1200" dirty="0" smtClean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periodic </a:t>
            </a:r>
            <a:r>
              <a:rPr lang="en-US" sz="120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energy monitoring </a:t>
            </a:r>
            <a:r>
              <a:rPr lang="en-US" sz="1200" dirty="0" smtClean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results every 20sec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0388" y="2710511"/>
            <a:ext cx="2489150" cy="2175272"/>
          </a:xfrm>
          <a:prstGeom prst="roundRect">
            <a:avLst>
              <a:gd name="adj" fmla="val 10088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49330" y="2710511"/>
            <a:ext cx="2489150" cy="2175272"/>
          </a:xfrm>
          <a:prstGeom prst="roundRect">
            <a:avLst>
              <a:gd name="adj" fmla="val 10088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277" y="0"/>
            <a:ext cx="8083296" cy="186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0"/>
              </a:lnSpc>
              <a:buNone/>
            </a:pPr>
            <a:r>
              <a:rPr lang="en-US" sz="6600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📊</a:t>
            </a:r>
            <a:endParaRPr lang="en-US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274564"/>
            <a:ext cx="7924800" cy="93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dirty="0">
                <a:solidFill>
                  <a:srgbClr val="F97316"/>
                </a:solidFill>
                <a:latin typeface="Times New Roman" panose="02020603050405020304" pitchFamily="18" charset="0"/>
                <a:ea typeface="Archivo Black" pitchFamily="34" charset="-122"/>
                <a:cs typeface="Times New Roman" panose="02020603050405020304" pitchFamily="18" charset="0"/>
              </a:rPr>
              <a:t>Communication extensions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31922" y="3119543"/>
            <a:ext cx="21466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ThingSpeak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89827" y="3619500"/>
            <a:ext cx="210457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Quick prototype option for periodic visualization and initial cloud testing.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20864" y="3143250"/>
            <a:ext cx="210457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Custom dashboard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49921" y="3724817"/>
            <a:ext cx="210457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Times New Roman" panose="02020603050405020304" pitchFamily="18" charset="0"/>
                <a:ea typeface="ui-sans-serif" pitchFamily="34" charset="-122"/>
                <a:cs typeface="Times New Roman" panose="02020603050405020304" pitchFamily="18" charset="0"/>
              </a:rPr>
              <a:t>Streamlit or HTML, CSS and JS can provide a richer live monitoring interface.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579" y="0"/>
            <a:ext cx="8793352" cy="5143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3763" y="-23813"/>
            <a:ext cx="7354887" cy="5191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562</Words>
  <Application>Microsoft Office PowerPoint</Application>
  <PresentationFormat>On-screen Show (16:9)</PresentationFormat>
  <Paragraphs>103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user</cp:lastModifiedBy>
  <cp:revision>8</cp:revision>
  <dcterms:created xsi:type="dcterms:W3CDTF">2026-04-10T10:57:11Z</dcterms:created>
  <dcterms:modified xsi:type="dcterms:W3CDTF">2026-04-10T15:47:33Z</dcterms:modified>
</cp:coreProperties>
</file>